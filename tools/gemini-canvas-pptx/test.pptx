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18895" y="1371600"/>
            <a:ext cx="9752990" cy="4114800"/>
          </a:xfrm>
          <a:prstGeom prst="roundRect">
            <a:avLst/>
          </a:prstGeom>
          <a:solidFill>
            <a:srgbClr val="F0E9D8"/>
          </a:solidFill>
          <a:ln w="25400">
            <a:solidFill>
              <a:srgbClr val="AD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>
                <a:solidFill>
                  <a:srgbClr val="7E191B"/>
                </a:solidFill>
                <a:latin typeface="Microsoft JhengHei"/>
              </a:rPr>
              <a:t>隋煬帝歷史功績</a:t>
            </a:r>
            <a:br/>
            <a:r>
              <a:t>之學術重探</a:t>
            </a:r>
          </a:p>
          <a:p>
            <a:pPr algn="ctr">
              <a:spcBef>
                <a:spcPts val="3000"/>
              </a:spcBef>
            </a:pPr>
            <a:r>
              <a:rPr sz="2400" b="0">
                <a:solidFill>
                  <a:srgbClr val="553E32"/>
                </a:solidFill>
                <a:latin typeface="Microsoft JhengHei"/>
              </a:rPr>
              <a:t>地緣政治重塑與大一統文化融合的深層政治戰略分析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7E191B"/>
                </a:solidFill>
                <a:latin typeface="Microsoft JhengHei"/>
              </a:rPr>
              <a:t>導言：歷史評價的典範轉移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長期以來，隋煬帝在道德史觀下被極度符號化，塑造成集荒淫、昏庸於一身的亡國之君。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現代學術界經歷了深刻的典範轉移，跳脫單純的道德批判，轉以歷史唯物主義、地緣政治學及社會學視角重新審視。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他與歷史上缺乏抱負的「無愁天子」有本質區別。隋煬帝是一位具備強烈歷史使命感、極具雄才大略的「有為之主」。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年號定為「大業」，展現其試圖在極短時間內建立超越秦皇漢武「聖天之業」的核心政治動機。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7E191B"/>
                </a:solidFill>
                <a:latin typeface="Microsoft JhengHei"/>
              </a:rPr>
              <a:t>第一大歷史功績</a:t>
            </a:r>
          </a:p>
          <a:p>
            <a:pPr algn="ctr">
              <a:spcBef>
                <a:spcPts val="2000"/>
              </a:spcBef>
            </a:pPr>
            <a:r>
              <a:rPr sz="2400" b="0">
                <a:solidFill>
                  <a:srgbClr val="553E32"/>
                </a:solidFill>
                <a:latin typeface="Microsoft JhengHei"/>
              </a:rPr>
              <a:t>地緣政治的重塑與國家基礎設施的奠基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7E191B"/>
                </a:solidFill>
                <a:latin typeface="Microsoft JhengHei"/>
              </a:rPr>
              <a:t>內部整合：營建東都與大運河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572000"/>
          </a:xfrm>
          <a:prstGeom prst="roundRect">
            <a:avLst/>
          </a:prstGeom>
          <a:solidFill>
            <a:srgbClr val="F0E9D8"/>
          </a:solidFill>
          <a:ln w="12700">
            <a:solidFill>
              <a:srgbClr val="D5CB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365760" rIns="365760" wrap="square"/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7E191B"/>
                </a:solidFill>
                <a:latin typeface="Microsoft JhengHei"/>
              </a:rPr>
              <a:t>營建東都洛陽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順應經濟重心南移的戰略選擇：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經濟邏輯：江南農業高度發展，長安偏居西北，物資漕運艱難且成本極高。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地理優勢：洛陽居天下之中，交通輻輳，便於向全國輻射權力。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政治目標：就近威懾山東舊族與江左士族，確保東南財賦能順暢支援北方的軍事行動。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0E9D8"/>
          </a:solidFill>
          <a:ln w="12700">
            <a:solidFill>
              <a:srgbClr val="D5CB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365760" rIns="365760" wrap="square"/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7E191B"/>
                </a:solidFill>
                <a:latin typeface="Microsoft JhengHei"/>
              </a:rPr>
              <a:t>開鑿南北大運河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貫通五大水系，全長五千餘里的戰略動脈：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軍事物流：作為征伐高麗與維護北方邊疆安全的強大後勤命脈。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經濟整合：徹底打破南北方長達數百年的地理屏障，將江南糧食安全轉運至北方。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深遠影響：消除地方割據的地緣基礎，實質奠定後世唐宋繁榮的經濟交流黃金水道。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7E191B"/>
                </a:solidFill>
                <a:latin typeface="Microsoft JhengHei"/>
              </a:rPr>
              <a:t>外部開拓： 巡狩四方與重開絲路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在傳統觀念中被視為勞民傷財的「巡狩」，本質上是高強度的「政治軍事威懾戰略」。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威懾突厥：親率大軍巡幸漠北，徵調百萬男丁修築長城，鞏固北方物理防線。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以夷制夷：利用外交分化策略擊敗吐谷渾，設立西域四郡，將廣袤領土納入版圖。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重開絲路：大業五年，親率大軍西巡至張掖，西域二十七國國王與使臣齊聚拜迎。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• 歷史意義：打破魏晉以來阻絕局面，保障東西貿易通道安全，具長遠地緣政治影響。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7E191B"/>
                </a:solidFill>
                <a:latin typeface="Microsoft JhengHei"/>
              </a:rPr>
              <a:t>第二大歷史功績</a:t>
            </a:r>
          </a:p>
          <a:p>
            <a:pPr algn="ctr">
              <a:spcBef>
                <a:spcPts val="2000"/>
              </a:spcBef>
            </a:pPr>
            <a:r>
              <a:rPr sz="2400" b="0">
                <a:solidFill>
                  <a:srgbClr val="553E32"/>
                </a:solidFill>
                <a:latin typeface="Microsoft JhengHei"/>
              </a:rPr>
              <a:t>大一統文化認同的建構與文官制度的創立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7E191B"/>
                </a:solidFill>
                <a:latin typeface="Microsoft JhengHei"/>
              </a:rPr>
              <a:t>跨越地域的文化融合與政治整合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572000"/>
          </a:xfrm>
          <a:prstGeom prst="roundRect">
            <a:avLst/>
          </a:prstGeom>
          <a:solidFill>
            <a:srgbClr val="F0E9D8"/>
          </a:solidFill>
          <a:ln w="12700">
            <a:solidFill>
              <a:srgbClr val="D5CB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7E191B"/>
                </a:solidFill>
                <a:latin typeface="Microsoft JhengHei"/>
              </a:rPr>
              <a:t>保護圖籍與文化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嚴令保護南朝陳的全部圖籍，贏得南方知識份子讚譽，化解江左士族對北方政權的敵意與抵制。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371600"/>
            <a:ext cx="3474720" cy="4572000"/>
          </a:xfrm>
          <a:prstGeom prst="roundRect">
            <a:avLst/>
          </a:prstGeom>
          <a:solidFill>
            <a:srgbClr val="F0E9D8"/>
          </a:solidFill>
          <a:ln w="12700">
            <a:solidFill>
              <a:srgbClr val="D5CB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7E191B"/>
                </a:solidFill>
                <a:latin typeface="Microsoft JhengHei"/>
              </a:rPr>
              <a:t>宗教外交安撫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尊崇江南篤信的佛教天台宗與道教，親自向智顗大師受戒，以此做為心理安撫與社會整合的工具。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474720" cy="4572000"/>
          </a:xfrm>
          <a:prstGeom prst="roundRect">
            <a:avLst/>
          </a:prstGeom>
          <a:solidFill>
            <a:srgbClr val="F0E9D8"/>
          </a:solidFill>
          <a:ln w="12700">
            <a:solidFill>
              <a:srgbClr val="D5CB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7E191B"/>
                </a:solidFill>
                <a:latin typeface="Microsoft JhengHei"/>
              </a:rPr>
              <a:t>政治核心去排他性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打破關隴軍事貴族對權力的絕對壟斷，重用南方士人，並推動國家禮儀制度「南學化」的合流。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7E191B"/>
                </a:solidFill>
                <a:latin typeface="Microsoft JhengHei"/>
              </a:rPr>
              <a:t>制度創新：創立科舉與文學交融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114800" cy="3657600"/>
          </a:xfrm>
          <a:prstGeom prst="roundRect">
            <a:avLst/>
          </a:prstGeom>
          <a:solidFill>
            <a:srgbClr val="7E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365760" rIns="365760" wrap="square"/>
          <a:lstStyle/>
          <a:p>
            <a:pPr algn="ctr"/>
            <a:r>
              <a:rPr sz="8000" b="1">
                <a:solidFill>
                  <a:srgbClr val="AD8A4E"/>
                </a:solidFill>
                <a:latin typeface="Microsoft JhengHei"/>
              </a:rPr>
              <a:t>1300+</a:t>
            </a:r>
          </a:p>
          <a:p>
            <a:pPr algn="ctr">
              <a:spcAft>
                <a:spcPts val="2000"/>
              </a:spcAft>
            </a:pPr>
            <a:r>
              <a:rPr sz="2000" b="1">
                <a:solidFill>
                  <a:srgbClr val="F7F3EA"/>
                </a:solidFill>
                <a:latin typeface="Microsoft JhengHei"/>
              </a:rPr>
              <a:t>年文官體制之基石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7E191B"/>
                </a:solidFill>
                <a:latin typeface="Microsoft JhengHei"/>
              </a:rPr>
              <a:t>瓦解門閥政治的社會基礎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隋煬帝在制度層面最深遠的貢獻，在於正式創置「科舉制度」。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此舉廢除了自魏晉以來的「九品中正制」，將官吏的選拔權從地方士族手中徹底收歸中央。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建立基於才學而非血緣的「官僚能力主義」體系，為平民子弟打開向上流動通道。同時，他親自推動南北詩風融合，為初盛唐詩歌輝煌做出不可磨滅的鋪墊。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7E191B"/>
                </a:solidFill>
                <a:latin typeface="Microsoft JhengHei"/>
              </a:rPr>
              <a:t>功業與暴政的辯證：「急政」的代價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極端的自負與好大喜功：將千秋萬代的大事業壓縮在十餘年內同時上馬，完全無視社會實際承受力與小農經濟的脆弱性。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生存權的無情剝奪：營建洛陽、開運河、三征高麗等龐大勞役，導致數千萬青壯年脫離農業生產，引發「耕稼失時」與大規模非正常死亡。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251E"/>
                </a:solidFill>
                <a:latin typeface="Microsoft JhengHei"/>
              </a:rPr>
              <a:t>仁與暴的一念之差：大禹治水為救民，隋煬帝興役卻為個人不世之功。「急功近利」的過度榨取，徹底踐踏了百姓基本生存權，終致國家覆滅身死江都。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5752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7E191B"/>
                </a:solidFill>
                <a:latin typeface="Microsoft JhengHei"/>
              </a:rPr>
              <a:t>歷史啟示與討論</a:t>
            </a:r>
          </a:p>
          <a:p>
            <a:pPr algn="ctr">
              <a:spcBef>
                <a:spcPts val="2000"/>
              </a:spcBef>
            </a:pPr>
            <a:r>
              <a:rPr sz="2400" b="0">
                <a:solidFill>
                  <a:srgbClr val="553E32"/>
                </a:solidFill>
                <a:latin typeface="Microsoft JhengHei"/>
              </a:rPr>
              <a:t>唐太宗汲取「水能載舟，亦能覆舟」的教訓，</a:t>
            </a:r>
            <a:br/>
            <a:r>
              <a:t>而大唐的繁榮實則承襲了隋煬帝的地緣與制度遺產。</a:t>
            </a:r>
          </a:p>
          <a:p>
            <a:pPr algn="ctr">
              <a:spcBef>
                <a:spcPts val="4000"/>
              </a:spcBef>
            </a:pPr>
            <a:r>
              <a:rPr sz="2200" b="1">
                <a:solidFill>
                  <a:srgbClr val="7E191B"/>
                </a:solidFill>
                <a:latin typeface="Microsoft JhengHei"/>
              </a:rPr>
              <a:t>開放式問題：</a:t>
            </a:r>
            <a:br/>
            <a:r>
              <a:t>我們應當如何客觀評價其「罪在當代，功在千秋」的歷史矛盾？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